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مرحباً بكم. محاضرتنا اليوم تختلف عن المعتاد؛ لن نبدأ بالنص فوراً، بل سنبدأ بالإنسان. سنتحدث عن ظاهرة أدبية فريدة، رجل وُلد أعمى في بيئة طينية متواضعة، لكنه استطاع بلسانه وعقله أن يقلب موازين الشعر العربي، ويصبح 'أستاذ المحدثين' بلا منازع.</a:t>
            </a:r>
          </a:p>
          <a:p/>
          <a:p>
            <a:r>
              <a:t>سنجيب اليوم عن أسئلة مهمة: كيف استطاع أعمى أن يصف الحروب وكأنه يراها؟ وكيف أدخل 'المنطق' والفلسفة إلى القصيدة العربية؟ ثم سنرى ذلك عملياً في قصيدته الشهيرة.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[تفاصيل للمحاضر - المصدر: الصفحات 12-14 من المذكرة]:</a:t>
            </a:r>
          </a:p>
          <a:p>
            <a:r>
              <a:t>        </a:t>
            </a:r>
          </a:p>
          <a:p>
            <a:r>
              <a:t>        1. المفارقة العجيبة في نشأته:</a:t>
            </a:r>
          </a:p>
          <a:p>
            <a:r>
              <a:t>        بشار بن برد بن يرجوخ، أصله من "طخارستان" (فارسي الأصل)، ولد أعمى، وكان أبوه يعمل في "تطيين" البيوت، وهي مهنة متواضعة. لكن العجيب أن بشاراً لم يتأثر بعجمة أهله ولا بمهنة أبيه، بل صنع لنفسه بيئة لغوية خاصة.</a:t>
            </a:r>
          </a:p>
          <a:p>
            <a:r>
              <a:t>        </a:t>
            </a:r>
          </a:p>
          <a:p>
            <a:r>
              <a:t>        2. سر الفصاحة (الجامعة البدوية):</a:t>
            </a:r>
          </a:p>
          <a:p>
            <a:r>
              <a:t>        يقول بشار مفتخراً: "نشأت في حجور ثمانين شيخاً من فصحاء بني عقيل، ما فيهم أحد يعرف كلمة من الخطأ".</a:t>
            </a:r>
          </a:p>
          <a:p>
            <a:r>
              <a:t>        البصرة كانت في ذلك الوقت "سوق العرب" ومربد اللغة، وبشار لم يكتفِ بمخالطة الرجال، بل دخل على نساء العرب وسمع منهن، فتشرب اللغة الصافية حتى صار "حجة" في اللغة رغم أنه مولّد.</a:t>
            </a:r>
          </a:p>
          <a:p>
            <a:r>
              <a:t>        </a:t>
            </a:r>
          </a:p>
          <a:p>
            <a:r>
              <a:t>        3. النبوغ المبكر والجرأة:</a:t>
            </a:r>
          </a:p>
          <a:p>
            <a:r>
              <a:t>        نظم الشعر قبل أن يبلغ العاشرة! ومن طرائف نشأته أنه هجا الشاعر الأموي الكبير "جرير". جرير لم يرد عليه استصغاراً له، فقال بشار لاحقاً: "لو أجابني لكنت أشعر الناس". هذا يدل على ثقته الجبارة بنفسه منذ الصغر.</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[شرح نقدي - المصدر: ص 13-14]:</a:t>
            </a:r>
          </a:p>
          <a:p>
            <a:r>
              <a:t>        </a:t>
            </a:r>
          </a:p>
          <a:p>
            <a:r>
              <a:t>        1. لماذا هو "برزخ" الشعر العربي؟</a:t>
            </a:r>
          </a:p>
          <a:p>
            <a:r>
              <a:t>        بشار يقف تماماً في المنتصف. النقاد (مثل الأصمعي والجاحظ) احتاروا فيه:</a:t>
            </a:r>
          </a:p>
          <a:p>
            <a:r>
              <a:t>        - إذا نظرت لمتانة لغته وقوة تراكيبه: تظنه شاعراً جاهلياً (من المتقدمين).</a:t>
            </a:r>
          </a:p>
          <a:p>
            <a:r>
              <a:t>        - وإذا نظرت لصوروه البديعة ومعانيه الفلسفية: تظنه شاعراً عباسياً مجدداً (من المحدثين).</a:t>
            </a:r>
          </a:p>
          <a:p>
            <a:r>
              <a:t>        لذلك قيل: هو "آخر المتقدمين وأول المحدثين".</a:t>
            </a:r>
          </a:p>
          <a:p>
            <a:r>
              <a:t>        </a:t>
            </a:r>
          </a:p>
          <a:p>
            <a:r>
              <a:t>        2. أثره فيمن بعده:</a:t>
            </a:r>
          </a:p>
          <a:p>
            <a:r>
              <a:t>        هو الذي فتح الباب لشعراء العصر العباسي الكبار. تتلمذ على طريقته "سلم الخاسر" و"أبو نواس" و"مسلم بن الوليد". كلهم أخذوا منه، لكن بشاراً كان "الأستاذ" الذي جمع كل خيوط الفن.</a:t>
            </a:r>
          </a:p>
          <a:p>
            <a:r>
              <a:t>        </a:t>
            </a:r>
          </a:p>
          <a:p>
            <a:r>
              <a:t>        3. مدرسته الفنية:</a:t>
            </a:r>
          </a:p>
          <a:p>
            <a:r>
              <a:t>        لم يرفض القديم (كالوقوف على الأطلال والفخر) لكنه جدده. حافظ على "عمود الشعر" في اللفظ، وثاور عليه في المعنى والخيال.</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[نقطة جوهرية في الدرس - المصدر: ص 17]:</a:t>
            </a:r>
          </a:p>
          <a:p>
            <a:r>
              <a:t>        </a:t>
            </a:r>
          </a:p>
          <a:p>
            <a:r>
              <a:t>        1. بيئة البصرة الفكرية:</a:t>
            </a:r>
          </a:p>
          <a:p>
            <a:r>
              <a:t>        البصرة لم تكن مدينة لغة فقط، بل مدينة "فكر وجدل". نشأت فيها فرقة "المعتزلة" الذين يمجدون العقل. بشار كان صديقاً لـ "واصل بن عطاء" (رأس المعتزلة)، وتأثر بمنهجهم العقلي.</a:t>
            </a:r>
          </a:p>
          <a:p>
            <a:r>
              <a:t>        </a:t>
            </a:r>
          </a:p>
          <a:p>
            <a:r>
              <a:t>        2. كيف ظهر ذلك في شعره؟</a:t>
            </a:r>
          </a:p>
          <a:p>
            <a:r>
              <a:t>        الشعر العربي القديم كان يعتمد على الوصف الحسي والعاطفة المباشرة. بشار أدخل "المنطق".</a:t>
            </a:r>
          </a:p>
          <a:p>
            <a:r>
              <a:t>        مثال: عندما يتحدث عن الصداقة، لا يكتفي بالعاطفة، بل يقدم لك "معادلة منطقية":</a:t>
            </a:r>
          </a:p>
          <a:p>
            <a:r>
              <a:t>        (الناس كلهم لديهم عيوب) + (أنت تريد صديقاً بلا عيوب) = (مستحيل، ستبقى وحيداً).</a:t>
            </a:r>
          </a:p>
          <a:p>
            <a:r>
              <a:t>        هذا التفكير التسلسلي هو بصمة بشار الخاصة.</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[التمهيد للنص]:</a:t>
            </a:r>
          </a:p>
          <a:p>
            <a:r>
              <a:t>        الآن سننتقل من "النظرية" إلى "التطبيق". اخترنا قصيدة (جفا وده) لأنها ليست مجرد مديح، بل هي معرض فني لخصائص بشار التي ذكرناها.</a:t>
            </a:r>
          </a:p>
          <a:p>
            <a:r>
              <a:t>        سنجد فيها:</a:t>
            </a:r>
          </a:p>
          <a:p>
            <a:r>
              <a:t>        1. المنطق العقلي (في أبيات الصداقة).</a:t>
            </a:r>
          </a:p>
          <a:p>
            <a:r>
              <a:t>        2. المبالغة الفارسية (في الفخر).</a:t>
            </a:r>
          </a:p>
          <a:p>
            <a:r>
              <a:t>        3. القدرة التصويرية "السينمائية" للأعمى (في وصف الجيش).</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[الشرح والتحليل - المصدر: ص 15-18]:</a:t>
            </a:r>
          </a:p>
          <a:p>
            <a:r>
              <a:t>        </a:t>
            </a:r>
          </a:p>
          <a:p>
            <a:r>
              <a:t>        هنا يطبق بشار منهجه العقلي الذي تحدثنا عنه.</a:t>
            </a:r>
          </a:p>
          <a:p>
            <a:r>
              <a:t>        - "إذا كنت في كل الذنوب معاتباً... لم تلقَ الذي لا تعاتبه": هذه قضية شرطية نتيجتها حتمية. لا يوجد إنسان كامل.</a:t>
            </a:r>
          </a:p>
          <a:p>
            <a:r>
              <a:t>        - "فعش واحداً أو صل أخاك": هنا يضعنا أمام خيارين لا ثالث لهما (إما العزلة أو التغاضي). هذا يسمى في المنطق "السبر والتقسيم".</a:t>
            </a:r>
          </a:p>
          <a:p>
            <a:r>
              <a:t>        - "إذا أنت لم تشرب مراراً على القذى":</a:t>
            </a:r>
          </a:p>
          <a:p>
            <a:r>
              <a:t>        حكمة تجري مجرى المثل. يشبه الحياة بماء فيه شوائب (قذى). إذا أصررت على شرب الماء النقي 100% ستموت عطشاً. كذلك الصداقة.</a:t>
            </a:r>
          </a:p>
          <a:p>
            <a:r>
              <a:t>        </a:t>
            </a:r>
          </a:p>
          <a:p>
            <a:r>
              <a:t>        *ملاحظة:* بشار هنا يخاطب العقل للإقناع، وليس العاطفة فقط.</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[أهم نقطة في الدرس - المصدر: ص 20]:</a:t>
            </a:r>
          </a:p>
          <a:p>
            <a:r>
              <a:t>        </a:t>
            </a:r>
          </a:p>
          <a:p>
            <a:r>
              <a:t>        كيف يصف الأعمى المعركة بهذه الدقة؟</a:t>
            </a:r>
          </a:p>
          <a:p>
            <a:r>
              <a:t>        1. الجيش كالليل: "وجيش كجنح الليل". استخدم "الليل" ليدل على كثرة الجنود وسواد الحديد. واستخدم "يزحف" ليدل على ثقل الحركة من كثرة السلاح.</a:t>
            </a:r>
          </a:p>
          <a:p>
            <a:r>
              <a:t>        </a:t>
            </a:r>
          </a:p>
          <a:p>
            <a:r>
              <a:t>        2. الصورة المعجزة (مثار النقع):</a:t>
            </a:r>
          </a:p>
          <a:p>
            <a:r>
              <a:t>        "كأن مثار النقع فوق رؤوسنا .. وأسيافنا ليل تهاوى كواكبه"</a:t>
            </a:r>
          </a:p>
          <a:p>
            <a:r>
              <a:t>        - شبه الغبار المثار بظلام الليل.</a:t>
            </a:r>
          </a:p>
          <a:p>
            <a:r>
              <a:t>        - شبه السيوف اللامعة وسط الغبار بالكواكب المتساقطة (تهاوى).</a:t>
            </a:r>
          </a:p>
          <a:p>
            <a:r>
              <a:t>        </a:t>
            </a:r>
          </a:p>
          <a:p>
            <a:r>
              <a:t>        3. المقارنة مع المتنبي:</a:t>
            </a:r>
          </a:p>
          <a:p>
            <a:r>
              <a:t>        النقاد (مثل الجرجاني) فضلوا بيت بشار على بيت المتنبي: "أسنته في جانبيه الكواكب".</a:t>
            </a:r>
          </a:p>
          <a:p>
            <a:r>
              <a:t>        لماذا؟ لأن المتنبي جعل الكواكب "ثابتة"، بينما بشار (الأعمى) جعلها "تتهاوى" وتتحرك وتتقاطع، مما رسم مشهد المعركة الحى والمتحرك. هذا يثبت أن خيال بشار أقوى من بصر غيره.</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[تحليل الشخصية من خلال النص - المصدر: ص 18-19]:</a:t>
            </a:r>
          </a:p>
          <a:p>
            <a:r>
              <a:t>        </a:t>
            </a:r>
          </a:p>
          <a:p>
            <a:r>
              <a:t>        بشار كان معروفاً باعتداده الشديد بنفسه (النرجسية الفنية).</a:t>
            </a:r>
          </a:p>
          <a:p>
            <a:r>
              <a:t>        - "إذا الملك الجبار صعر خده... مشينا إليه بالسيوف نعاتبه":</a:t>
            </a:r>
          </a:p>
          <a:p>
            <a:r>
              <a:t>        انظر إلى "الأنا" العالية. هو لا يخضع للملوك المتجبرين، بل يحول "العتاب" من كلام إلى قتال. قارنه النقاد ببيت "المتلمس" الجاهلي، فوجدوا بشاراً أكثر مبالغة وتهديداً (تأثراً بطبعه الحار وأصله الفارسي الذي يميل للتضخيم).</a:t>
            </a:r>
          </a:p>
          <a:p>
            <a:r>
              <a:t>        </a:t>
            </a:r>
          </a:p>
          <a:p>
            <a:r>
              <a:t>        - "فراحوا فريقاً في الإسار...":</a:t>
            </a:r>
          </a:p>
          <a:p>
            <a:r>
              <a:t>        مرة أخرى يعود "التقسيم العقلي". الأعداء انتهوا إلى 3 مصائر محددة: أسر، قتل، هروب. هذا الاستقصاء يدل على هيمنة الشاعر وإحاطته بالمشهد.</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في الختام، بشار بن برد ليس مجرد شاعر، بل هو "مدرسة".</a:t>
            </a:r>
          </a:p>
          <a:p>
            <a:r>
              <a:t>        تعلمنا منه اليوم:</a:t>
            </a:r>
          </a:p>
          <a:p>
            <a:r>
              <a:t>        1. أن العجز الجسدي (العمى) لا يمنع من قوة البصيرة، بل قد يرهف الخيال.</a:t>
            </a:r>
          </a:p>
          <a:p>
            <a:r>
              <a:t>        2. أن التجديد لا يعني هدم القديم، بل البناء عليه (كما فعل بدمج الجزالة بالمعاني الجديدة).</a:t>
            </a:r>
          </a:p>
          <a:p>
            <a:r>
              <a:t>        3. أن الشعر العظيم هو ما يخاطب العقل والوجدان معاً.</a:t>
            </a:r>
          </a:p>
          <a:p>
            <a:r>
              <a:t>        </a:t>
            </a:r>
          </a:p>
          <a:p>
            <a:r>
              <a:t>        شكراً لاستماعكم.</a:t>
            </a:r>
          </a:p>
          <a:p>
            <a:r>
              <a: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بشار بن برد: عبقرية العمى والبصيرة</a:t>
            </a:r>
          </a:p>
        </p:txBody>
      </p:sp>
      <p:sp>
        <p:nvSpPr>
          <p:cNvPr id="3" name="Subtitle 2"/>
          <p:cNvSpPr>
            <a:spLocks noGrp="1"/>
          </p:cNvSpPr>
          <p:nvPr>
            <p:ph type="subTitle" idx="1"/>
          </p:nvPr>
        </p:nvSpPr>
        <p:spPr/>
        <p:txBody>
          <a:bodyPr/>
          <a:lstStyle/>
          <a:p>
            <a:r>
              <a:t>دراسة في شخصية 'أشعر المولدين' وخصائصه الفنية</a:t>
            </a:r>
          </a:p>
          <a:p>
            <a:r>
              <a:t>مع تطبيق على قصيدة (جفا وده)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أولاً: النشأة والتكوين.. كيف صُنع الشاعر؟</a:t>
            </a:r>
          </a:p>
        </p:txBody>
      </p:sp>
      <p:sp>
        <p:nvSpPr>
          <p:cNvPr id="3" name="Content Placeholder 2"/>
          <p:cNvSpPr>
            <a:spLocks noGrp="1"/>
          </p:cNvSpPr>
          <p:nvPr>
            <p:ph idx="1"/>
          </p:nvPr>
        </p:nvSpPr>
        <p:spPr/>
        <p:txBody>
          <a:bodyPr wrap="square"/>
          <a:lstStyle/>
          <a:p/>
          <a:p>
            <a:pPr algn="r">
              <a:spcAft>
                <a:spcPts val="1400"/>
              </a:spcAft>
              <a:defRPr sz="2400"/>
            </a:pPr>
            <a:r>
              <a:t>اسمه ونسبه: بشار بن برد العقيلي (بالولاء).</a:t>
            </a:r>
          </a:p>
          <a:p>
            <a:pPr algn="r">
              <a:spcAft>
                <a:spcPts val="1400"/>
              </a:spcAft>
              <a:defRPr sz="2400"/>
            </a:pPr>
            <a:r>
              <a:t>المولد: ولد أعمى (مكفوفاً) عام 95هـ في البصرة.</a:t>
            </a:r>
          </a:p>
          <a:p>
            <a:pPr algn="r">
              <a:spcAft>
                <a:spcPts val="1400"/>
              </a:spcAft>
              <a:defRPr sz="2400"/>
            </a:pPr>
            <a:r>
              <a:t>البيئة المتناقضة: أبوه 'طـيَّـان' (يعمل بالطين)، ونشأته في 'حجور الفصحاء'.</a:t>
            </a:r>
          </a:p>
          <a:p>
            <a:pPr algn="r">
              <a:spcAft>
                <a:spcPts val="1400"/>
              </a:spcAft>
              <a:defRPr sz="2400"/>
            </a:pPr>
            <a:r>
              <a:t>موهبته المبكرة: هجا جرير وهو طفل صغير!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ثانياً: مكانته.. حلقة الوصل بين عصرين</a:t>
            </a:r>
          </a:p>
        </p:txBody>
      </p:sp>
      <p:sp>
        <p:nvSpPr>
          <p:cNvPr id="3" name="Content Placeholder 2"/>
          <p:cNvSpPr>
            <a:spLocks noGrp="1"/>
          </p:cNvSpPr>
          <p:nvPr>
            <p:ph idx="1"/>
          </p:nvPr>
        </p:nvSpPr>
        <p:spPr/>
        <p:txBody>
          <a:bodyPr wrap="square"/>
          <a:lstStyle/>
          <a:p/>
          <a:p>
            <a:pPr algn="r">
              <a:spcAft>
                <a:spcPts val="1400"/>
              </a:spcAft>
              <a:defRPr sz="2400"/>
            </a:pPr>
            <a:r>
              <a:t>لقبه: 'أشعر المولدين' وزعيم المجددين.</a:t>
            </a:r>
          </a:p>
          <a:p>
            <a:pPr algn="r">
              <a:spcAft>
                <a:spcPts val="1400"/>
              </a:spcAft>
              <a:defRPr sz="2400"/>
            </a:pPr>
            <a:r>
              <a:t>موقعه في التاريخ: آخر المتقدمين وأول المحدثين.</a:t>
            </a:r>
          </a:p>
          <a:p>
            <a:pPr algn="r">
              <a:spcAft>
                <a:spcPts val="1400"/>
              </a:spcAft>
              <a:defRPr sz="2400"/>
            </a:pPr>
            <a:r>
              <a:t>الجمع بين النقيضين: جزالة البداوة + رقة الحضارة.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ثالثاً: المؤثرات الفكرية.. الشاعر الفيلسوف</a:t>
            </a:r>
          </a:p>
        </p:txBody>
      </p:sp>
      <p:sp>
        <p:nvSpPr>
          <p:cNvPr id="3" name="Content Placeholder 2"/>
          <p:cNvSpPr>
            <a:spLocks noGrp="1"/>
          </p:cNvSpPr>
          <p:nvPr>
            <p:ph idx="1"/>
          </p:nvPr>
        </p:nvSpPr>
        <p:spPr/>
        <p:txBody>
          <a:bodyPr wrap="square"/>
          <a:lstStyle/>
          <a:p/>
          <a:p>
            <a:pPr algn="r">
              <a:spcAft>
                <a:spcPts val="1400"/>
              </a:spcAft>
              <a:defRPr sz="2400"/>
            </a:pPr>
            <a:r>
              <a:t>علاقته بالمعتزلة: كان يجالس واصل بن عطاء.</a:t>
            </a:r>
          </a:p>
          <a:p>
            <a:pPr algn="r">
              <a:spcAft>
                <a:spcPts val="1400"/>
              </a:spcAft>
              <a:defRPr sz="2400"/>
            </a:pPr>
            <a:r>
              <a:t>دخول المنطق في الشعر: استخدام القياس والتعليل.</a:t>
            </a:r>
          </a:p>
          <a:p>
            <a:pPr algn="r">
              <a:spcAft>
                <a:spcPts val="1400"/>
              </a:spcAft>
              <a:defRPr sz="2400"/>
            </a:pPr>
            <a:r>
              <a:t>توليد المعاني: البحث عن أفكار لم يسبقه إليها أحد.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رابعاً: التطبيق العملي (قصيدة جفا وده)</a:t>
            </a:r>
          </a:p>
        </p:txBody>
      </p:sp>
      <p:sp>
        <p:nvSpPr>
          <p:cNvPr id="3" name="Content Placeholder 2"/>
          <p:cNvSpPr>
            <a:spLocks noGrp="1"/>
          </p:cNvSpPr>
          <p:nvPr>
            <p:ph idx="1"/>
          </p:nvPr>
        </p:nvSpPr>
        <p:spPr/>
        <p:txBody>
          <a:bodyPr wrap="square"/>
          <a:lstStyle/>
          <a:p/>
          <a:p>
            <a:pPr algn="r">
              <a:spcAft>
                <a:spcPts val="1400"/>
              </a:spcAft>
              <a:defRPr sz="2400"/>
            </a:pPr>
            <a:r>
              <a:t>المناسبة: مدح الخليفة مروان بن محمد والافتخار بقيس عيلان.</a:t>
            </a:r>
          </a:p>
          <a:p>
            <a:pPr algn="r">
              <a:spcAft>
                <a:spcPts val="1400"/>
              </a:spcAft>
              <a:defRPr sz="2400"/>
            </a:pPr>
            <a:r>
              <a:t>لماذا اخترنا هذه القصيدة؟</a:t>
            </a:r>
          </a:p>
          <a:p>
            <a:pPr algn="r">
              <a:spcAft>
                <a:spcPts val="1400"/>
              </a:spcAft>
              <a:defRPr sz="2400"/>
            </a:pPr>
            <a:r>
              <a:t>لأنها تمثل شخصية بشار تمثيلاً كاملاً (حكمته، فخره، دقة وصفه).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1. تجليات العقل: فلسفة الصداقة</a:t>
            </a:r>
          </a:p>
        </p:txBody>
      </p:sp>
      <p:sp>
        <p:nvSpPr>
          <p:cNvPr id="3" name="Content Placeholder 2"/>
          <p:cNvSpPr>
            <a:spLocks noGrp="1"/>
          </p:cNvSpPr>
          <p:nvPr>
            <p:ph idx="1"/>
          </p:nvPr>
        </p:nvSpPr>
        <p:spPr/>
        <p:txBody>
          <a:bodyPr wrap="square"/>
          <a:lstStyle/>
          <a:p/>
          <a:p>
            <a:pPr algn="r">
              <a:spcAft>
                <a:spcPts val="1400"/>
              </a:spcAft>
              <a:defRPr sz="2400"/>
            </a:pPr>
            <a:r>
              <a:t>البيت: إذا كنت في كل الذنوب معاتباً...</a:t>
            </a:r>
          </a:p>
          <a:p>
            <a:pPr algn="r">
              <a:spcAft>
                <a:spcPts val="1400"/>
              </a:spcAft>
              <a:defRPr sz="2400"/>
            </a:pPr>
            <a:r>
              <a:t>البيت: إذا أنت لم تشرب مراراً على القذى...</a:t>
            </a:r>
          </a:p>
          <a:p>
            <a:pPr algn="r">
              <a:spcAft>
                <a:spcPts val="1400"/>
              </a:spcAft>
              <a:defRPr sz="2400"/>
            </a:pPr>
            <a:r>
              <a:t>الأسلوب: التقسيم المنطقي واستحالة الكمال البشري.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2. معجزة الخيال: كيف يرى الأعمى ما لا يراه المبصر؟</a:t>
            </a:r>
          </a:p>
        </p:txBody>
      </p:sp>
      <p:sp>
        <p:nvSpPr>
          <p:cNvPr id="3" name="Content Placeholder 2"/>
          <p:cNvSpPr>
            <a:spLocks noGrp="1"/>
          </p:cNvSpPr>
          <p:nvPr>
            <p:ph idx="1"/>
          </p:nvPr>
        </p:nvSpPr>
        <p:spPr/>
        <p:txBody>
          <a:bodyPr wrap="square"/>
          <a:lstStyle/>
          <a:p/>
          <a:p>
            <a:pPr algn="r">
              <a:spcAft>
                <a:spcPts val="1400"/>
              </a:spcAft>
              <a:defRPr sz="2400"/>
            </a:pPr>
            <a:r>
              <a:t>صورة الجيش: (وجيش كجنح الليل يزحف بالحصى).</a:t>
            </a:r>
          </a:p>
          <a:p>
            <a:pPr algn="r">
              <a:spcAft>
                <a:spcPts val="1400"/>
              </a:spcAft>
              <a:defRPr sz="2400"/>
            </a:pPr>
            <a:r>
              <a:t>الصورة الخالدة: (كأن مثار النقع فوق رؤوسنا...)</a:t>
            </a:r>
          </a:p>
          <a:p>
            <a:pPr algn="r">
              <a:spcAft>
                <a:spcPts val="1400"/>
              </a:spcAft>
              <a:defRPr sz="2400"/>
            </a:pPr>
            <a:r>
              <a:t>مقارنة نقدية: بشار بن برد vs المتنبي.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3. شخصية الشاعر: الأنفة والمبالغة</a:t>
            </a:r>
          </a:p>
        </p:txBody>
      </p:sp>
      <p:sp>
        <p:nvSpPr>
          <p:cNvPr id="3" name="Content Placeholder 2"/>
          <p:cNvSpPr>
            <a:spLocks noGrp="1"/>
          </p:cNvSpPr>
          <p:nvPr>
            <p:ph idx="1"/>
          </p:nvPr>
        </p:nvSpPr>
        <p:spPr/>
        <p:txBody>
          <a:bodyPr wrap="square"/>
          <a:lstStyle/>
          <a:p/>
          <a:p>
            <a:pPr algn="r">
              <a:spcAft>
                <a:spcPts val="1400"/>
              </a:spcAft>
              <a:defRPr sz="2400"/>
            </a:pPr>
            <a:r>
              <a:t>عتاب الملوك بالسيوف: (مشينا إليه بالسيوف نعاتبه).</a:t>
            </a:r>
          </a:p>
          <a:p>
            <a:pPr algn="r">
              <a:spcAft>
                <a:spcPts val="1400"/>
              </a:spcAft>
              <a:defRPr sz="2400"/>
            </a:pPr>
            <a:r>
              <a:t>التقسيم في مصير الأعداء: (فراحوا: فريقاً في الإسار...).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r">
              <a:defRPr sz="3600">
                <a:solidFill>
                  <a:srgbClr val="003366"/>
                </a:solidFill>
              </a:defRPr>
            </a:pPr>
            <a:r>
              <a:t>الخاتمة: ماذا بقي من بشار؟</a:t>
            </a:r>
          </a:p>
        </p:txBody>
      </p:sp>
      <p:sp>
        <p:nvSpPr>
          <p:cNvPr id="3" name="Content Placeholder 2"/>
          <p:cNvSpPr>
            <a:spLocks noGrp="1"/>
          </p:cNvSpPr>
          <p:nvPr>
            <p:ph idx="1"/>
          </p:nvPr>
        </p:nvSpPr>
        <p:spPr/>
        <p:txBody>
          <a:bodyPr wrap="square"/>
          <a:lstStyle/>
          <a:p/>
          <a:p>
            <a:pPr algn="r">
              <a:spcAft>
                <a:spcPts val="1400"/>
              </a:spcAft>
              <a:defRPr sz="2400"/>
            </a:pPr>
            <a:r>
              <a:t>إرثه: نقل الشعر العربي من البداوة إلى الحضارة.</a:t>
            </a:r>
          </a:p>
          <a:p>
            <a:pPr algn="r">
              <a:spcAft>
                <a:spcPts val="1400"/>
              </a:spcAft>
              <a:defRPr sz="2400"/>
            </a:pPr>
            <a:r>
              <a:t>درسه البليغ: الإعاقة قد تكون محفزاً للعبقرية.</a:t>
            </a:r>
          </a:p>
          <a:p>
            <a:pPr algn="r">
              <a:spcAft>
                <a:spcPts val="1400"/>
              </a:spcAft>
              <a:defRPr sz="2400"/>
            </a:pPr>
            <a:r>
              <a:t>خلاصة الأسلوب: عقل فيلسوف + خيال رسام + لغة أعرابي.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